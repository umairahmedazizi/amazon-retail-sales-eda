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Lexend SemiBold"/>
      <p:regular r:id="rId18"/>
      <p:bold r:id="rId19"/>
    </p:embeddedFont>
    <p:embeddedFont>
      <p:font typeface="Lexend ExtraBold"/>
      <p:bold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Lexen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E9CFBA-45AD-4119-BC5B-3ACA8E128FF8}">
  <a:tblStyle styleId="{40E9CFBA-45AD-4119-BC5B-3ACA8E128F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ExtraBold-bold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exen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exendSemiBold-bold.fntdata"/><Relationship Id="rId18" Type="http://schemas.openxmlformats.org/officeDocument/2006/relationships/font" Target="fonts/Lexend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16604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FINAL TERM PROJECT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482256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Umair Ahmed (28118) &amp; Aurad Asif (28770)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December 31, 2025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760315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Impact of Promotions &amp; Economics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 on Retail Sales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2771775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47662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Measuring the influence of promotions, macroeconomic conditions (CPI, Unemployment), and regional differences on weekly retail revenue to drive strategic forecasting.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95275" y="3000375"/>
            <a:ext cx="11601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The Research 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4137"/>
            <a:ext cx="53340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24137"/>
            <a:ext cx="533400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866775" y="3338512"/>
            <a:ext cx="4743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Analyzing historical data from 45 stores across multiple departments. The study spans February 2019 to November 2021, capturing regional characteristics and temporal shifts.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858000" y="33004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962775" y="3300412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Macro: CPI, Unemployment, Fuel Price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858000" y="36052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962775" y="3605212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Promotional: Seasonal Markdowns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858000" y="39100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962775" y="3910012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Store: Type (A/B/C) and Total Square Footage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Retail Data Ecosystem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47625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2919412"/>
            <a:ext cx="49806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0B981"/>
                </a:solidFill>
                <a:latin typeface="Lexend"/>
                <a:ea typeface="Lexend"/>
                <a:cs typeface="Lexend"/>
                <a:sym typeface="Lexend"/>
              </a:rPr>
              <a:t>Scope &amp; Scale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581775" y="2919412"/>
            <a:ext cx="49806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9E0B"/>
                </a:solidFill>
                <a:latin typeface="Lexend"/>
                <a:ea typeface="Lexend"/>
                <a:cs typeface="Lexend"/>
                <a:sym typeface="Lexend"/>
              </a:rPr>
              <a:t>Key Variables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0312"/>
            <a:ext cx="349254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00312"/>
            <a:ext cx="349254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00312"/>
            <a:ext cx="349254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7860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57250" y="377666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Categorized discounts into Low, Medium, High, and Very High based on quartiles.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27860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4635549" y="377666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Divided inflation into Low, Moderate, and High to isolate macroeconomic impact.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7612" y="27860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413849" y="377666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Specific encoding for Super Bowl, Labor Day, Thanksgiving, and Christmas.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57150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Feature Engineering Strategy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47625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784223" y="3357562"/>
            <a:ext cx="30671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Promo Binning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562523" y="3357562"/>
            <a:ext cx="30671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CPI Segments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340822" y="3357562"/>
            <a:ext cx="30671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Holiday Types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81125"/>
            <a:ext cx="11049000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47053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Insights: Sales exhibit a 3.2x increase when moving from Low to Very High promotional intensity.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62000" y="57150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Impact of Promotional Intensity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47625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24137"/>
            <a:ext cx="533400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2919412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10B98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10.6K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252912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Median Weekly Sales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581775" y="3338512"/>
            <a:ext cx="4743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Physical capacity is the strongest structural driver of revenue (0.22 correlation). Large stores generate 2.7x more sales than Small stores (3,952 median) regardless of regional conditions.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57150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The "Large Store" Multiplier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71500" y="571500"/>
            <a:ext cx="47625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581775" y="2919412"/>
            <a:ext cx="49806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Store Scale Insights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2881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2347912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Thanksgiving is the dominant revenue driver with a median of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7,755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Interestingly, Christmas underperforms (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5,709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), falling even below non-holiday baselines.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2881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952500" y="34528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Thanksgiving creates a concentrated shopping surge.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52500" y="39481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Christmas drop likely reflects logistics or store closures.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52500" y="47482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 Promotion on Thanksgiving yields peak ROI.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62000" y="57150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Holiday Dynamics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71500" y="571500"/>
            <a:ext cx="47625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1928812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Lexend"/>
                <a:ea typeface="Lexend"/>
                <a:cs typeface="Lexend"/>
                <a:sym typeface="Lexend"/>
              </a:rPr>
              <a:t>Thanksgiving vs. Christmas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528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48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482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6937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66937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5875" y="2881312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762000" y="57150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Inflation vs. Purchasing Power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571500" y="571500"/>
            <a:ext cx="47625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81125"/>
            <a:ext cx="11049000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71500" y="53482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Median weekly sales dropped by 9% over three years, reflecting persistent macroeconomic headwinds.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762000" y="57150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Long-term Revenue Decline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571500" y="571500"/>
            <a:ext cx="47625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22"/>
          <p:cNvGraphicFramePr/>
          <p:nvPr/>
        </p:nvGraphicFramePr>
        <p:xfrm>
          <a:off x="571500" y="23860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{40E9CFBA-45AD-4119-BC5B-3ACA8E128FF8}</a:tableStyleId>
              </a:tblPr>
              <a:tblGrid>
                <a:gridCol w="2979250"/>
                <a:gridCol w="2821325"/>
                <a:gridCol w="2367550"/>
                <a:gridCol w="2880875"/>
              </a:tblGrid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Promotion Bin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Holiday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Store Size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Median Sales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Very 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Thanksgiving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Large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15,232 (Peak)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Thanksgiving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12,154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Very 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Labor 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Large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11,045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Christmas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1,816 (Floor)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2"/>
          <p:cNvSpPr/>
          <p:nvPr/>
        </p:nvSpPr>
        <p:spPr>
          <a:xfrm>
            <a:off x="571500" y="3524250"/>
            <a:ext cx="29792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3550741" y="3524250"/>
            <a:ext cx="2821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6372076" y="3524250"/>
            <a:ext cx="23675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8739633" y="3524250"/>
            <a:ext cx="28808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571500" y="4105275"/>
            <a:ext cx="29792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3550741" y="4105275"/>
            <a:ext cx="2821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6372076" y="4105275"/>
            <a:ext cx="23675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8739633" y="4105275"/>
            <a:ext cx="28808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571500" y="4686300"/>
            <a:ext cx="29792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3550741" y="4686300"/>
            <a:ext cx="2821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6372076" y="4686300"/>
            <a:ext cx="23675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8739633" y="4686300"/>
            <a:ext cx="28808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571500" y="5267325"/>
            <a:ext cx="297924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550741" y="5267325"/>
            <a:ext cx="2821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6372076" y="5267325"/>
            <a:ext cx="23675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8739633" y="5267325"/>
            <a:ext cx="288086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762000" y="57150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Multivariate Success Factors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571500" y="571500"/>
            <a:ext cx="47625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952500" y="2386012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Maximize Thanksgiving ROI: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Shift promotional budgets from Christmas to Thanksgiving to capitalize on the higher conversion intensity.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952500" y="3186112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High-Inflation Buffer: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During high-inflation periods, shift from "High" to "Very High" promotions to maintain volume, despite margin pressure.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952500" y="3986212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Store-Specific Tactics: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 aggressive discounting for Small Stores to drive traffic, while leveraging Large Stores as stable baseline earners.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952500" y="478631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August Opportunity: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Implement a "Pre-Holiday" push in August to bridge the mid-year plateau before the Q4 surge.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762000" y="571500"/>
            <a:ext cx="11401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Strategic Recommendations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71500" y="571500"/>
            <a:ext cx="47625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5" name="Google Shape;2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86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86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863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